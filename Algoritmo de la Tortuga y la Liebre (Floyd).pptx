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Roboto"/>
      <p:bold r:id="rId18"/>
      <p:boldItalic r:id="rId19"/>
    </p:embeddedFont>
    <p:embeddedFont>
      <p:font typeface="Roboto Medium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JetBrains Mono"/>
      <p:regular r:id="rId28"/>
      <p:bold r:id="rId29"/>
      <p:italic r:id="rId30"/>
      <p:boldItalic r:id="rId31"/>
    </p:embeddedFont>
    <p:embeddedFont>
      <p:font typeface="Space Grotesk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edium-regular.fntdata"/><Relationship Id="rId22" Type="http://schemas.openxmlformats.org/officeDocument/2006/relationships/font" Target="fonts/RobotoMedium-italic.fntdata"/><Relationship Id="rId21" Type="http://schemas.openxmlformats.org/officeDocument/2006/relationships/font" Target="fonts/RobotoMedium-bold.fntdata"/><Relationship Id="rId24" Type="http://schemas.openxmlformats.org/officeDocument/2006/relationships/font" Target="fonts/Inter-regular.fntdata"/><Relationship Id="rId23" Type="http://schemas.openxmlformats.org/officeDocument/2006/relationships/font" Target="fonts/Roboto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JetBrainsMono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JetBrainsMono-boldItalic.fntdata"/><Relationship Id="rId30" Type="http://schemas.openxmlformats.org/officeDocument/2006/relationships/font" Target="fonts/JetBrainsMono-italic.fntdata"/><Relationship Id="rId11" Type="http://schemas.openxmlformats.org/officeDocument/2006/relationships/slide" Target="slides/slide5.xml"/><Relationship Id="rId33" Type="http://schemas.openxmlformats.org/officeDocument/2006/relationships/font" Target="fonts/SpaceGrotesk-bold.fntdata"/><Relationship Id="rId10" Type="http://schemas.openxmlformats.org/officeDocument/2006/relationships/slide" Target="slides/slide4.xml"/><Relationship Id="rId32" Type="http://schemas.openxmlformats.org/officeDocument/2006/relationships/font" Target="fonts/SpaceGrotesk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bold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2457e1fa675233c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h2457e1fa675233c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2457e1fa675233cd_16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h2457e1fa675233cd_16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2457e1fa675233cd_16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h2457e1fa675233cd_16_2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2457e1fa675233cd_16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h2457e1fa675233cd_16_3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2457e1fa675233cd_16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h2457e1fa675233cd_16_4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h7a3c719ac1382755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h7a3c719ac1382755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h288f5cd3cedfa5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h288f5cd3cedfa54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h2457e1fa675233cd_16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h2457e1fa675233cd_16_6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348b0c42d1b1b741_14_0)">
  <p:cSld name="Generated (h348b0c42d1b1b741_14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348b0c42d1b1b741_14_0)">
  <p:cSld name="Generated (h348b0c42d1b1b741_14_0)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5" name="Google Shape;95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3" name="Google Shape;113;p20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1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21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21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3" name="Google Shape;123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4" name="Google Shape;134;p23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5" name="Google Shape;135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2" name="Google Shape;142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 rot="5400000">
            <a:off x="2308951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 rot="5400000">
            <a:off x="4732351" y="2171689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 rot="5400000">
            <a:off x="541350" y="190487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gif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20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hyperlink" Target="http://drive.google.com/file/d/1TuIWDVMzCIXhGMMd3GHkzFBsHFRIcxzF/view" TargetMode="External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6ACo6BcplKPLkCS3kgdL24xjrOAKAzWg/view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3.png"/><Relationship Id="rId7" Type="http://schemas.openxmlformats.org/officeDocument/2006/relationships/image" Target="../media/image21.png"/><Relationship Id="rId8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27"/>
          <p:cNvGrpSpPr/>
          <p:nvPr/>
        </p:nvGrpSpPr>
        <p:grpSpPr>
          <a:xfrm>
            <a:off x="0" y="0"/>
            <a:ext cx="12191695" cy="6857829"/>
            <a:chOff x="0" y="0"/>
            <a:chExt cx="9144000" cy="5143500"/>
          </a:xfrm>
        </p:grpSpPr>
        <p:sp>
          <p:nvSpPr>
            <p:cNvPr id="162" name="Google Shape;162;p2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7"/>
            <p:cNvSpPr/>
            <p:nvPr/>
          </p:nvSpPr>
          <p:spPr>
            <a:xfrm>
              <a:off x="0" y="0"/>
              <a:ext cx="9144000" cy="152400"/>
            </a:xfrm>
            <a:prstGeom prst="rect">
              <a:avLst/>
            </a:prstGeom>
            <a:solidFill>
              <a:srgbClr val="0056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7"/>
            <p:cNvSpPr/>
            <p:nvPr/>
          </p:nvSpPr>
          <p:spPr>
            <a:xfrm>
              <a:off x="457200" y="419100"/>
              <a:ext cx="381000" cy="381000"/>
            </a:xfrm>
            <a:prstGeom prst="rect">
              <a:avLst/>
            </a:prstGeom>
            <a:solidFill>
              <a:srgbClr val="1A2B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7"/>
            <p:cNvSpPr/>
            <p:nvPr/>
          </p:nvSpPr>
          <p:spPr>
            <a:xfrm>
              <a:off x="552450" y="5143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" name="Google Shape;166;p27"/>
          <p:cNvSpPr txBox="1"/>
          <p:nvPr/>
        </p:nvSpPr>
        <p:spPr>
          <a:xfrm>
            <a:off x="6350000" y="558800"/>
            <a:ext cx="5232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Estructuras de Datos 2026-II</a:t>
            </a:r>
            <a:endParaRPr b="1" sz="1500">
              <a:solidFill>
                <a:srgbClr val="0056B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Profesor: Julián Camilo Velandia Gutiérrez</a:t>
            </a:r>
            <a:endParaRPr b="0" sz="1500">
              <a:solidFill>
                <a:srgbClr val="49505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7" name="Google Shape;167;p27"/>
          <p:cNvCxnSpPr/>
          <p:nvPr/>
        </p:nvCxnSpPr>
        <p:spPr>
          <a:xfrm>
            <a:off x="609600" y="1270000"/>
            <a:ext cx="10972800" cy="0"/>
          </a:xfrm>
          <a:prstGeom prst="straightConnector1">
            <a:avLst/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27"/>
          <p:cNvSpPr txBox="1"/>
          <p:nvPr/>
        </p:nvSpPr>
        <p:spPr>
          <a:xfrm>
            <a:off x="609600" y="1841500"/>
            <a:ext cx="10972800" cy="2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A2B4C"/>
                </a:solidFill>
                <a:latin typeface="Roboto"/>
                <a:ea typeface="Roboto"/>
                <a:cs typeface="Roboto"/>
                <a:sym typeface="Roboto"/>
              </a:rPr>
              <a:t>Detección de ciclos con la tortuga y la liebre de Floyd</a:t>
            </a:r>
            <a:endParaRPr b="1" sz="4000">
              <a:solidFill>
                <a:srgbClr val="1A2B4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56B3"/>
                </a:solidFill>
                <a:latin typeface="Roboto Medium"/>
                <a:ea typeface="Roboto Medium"/>
                <a:cs typeface="Roboto Medium"/>
                <a:sym typeface="Roboto Medium"/>
              </a:rPr>
              <a:t>Listas simplemente enlazadas</a:t>
            </a:r>
            <a:endParaRPr b="0" sz="2400">
              <a:solidFill>
                <a:srgbClr val="0056B3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609600" y="4343400"/>
            <a:ext cx="10972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Integrantes (Grupo 2):</a:t>
            </a:r>
            <a:endParaRPr b="1" sz="1300">
              <a:solidFill>
                <a:srgbClr val="49505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0" name="Google Shape;170;p27"/>
          <p:cNvGrpSpPr/>
          <p:nvPr/>
        </p:nvGrpSpPr>
        <p:grpSpPr>
          <a:xfrm>
            <a:off x="609600" y="4774950"/>
            <a:ext cx="2552736" cy="1206370"/>
            <a:chOff x="0" y="0"/>
            <a:chExt cx="1914600" cy="904800"/>
          </a:xfrm>
        </p:grpSpPr>
        <p:sp>
          <p:nvSpPr>
            <p:cNvPr id="171" name="Google Shape;171;p27"/>
            <p:cNvSpPr/>
            <p:nvPr/>
          </p:nvSpPr>
          <p:spPr>
            <a:xfrm>
              <a:off x="0" y="0"/>
              <a:ext cx="1914600" cy="904800"/>
            </a:xfrm>
            <a:prstGeom prst="roundRect">
              <a:avLst>
                <a:gd fmla="val 421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7"/>
            <p:cNvSpPr/>
            <p:nvPr/>
          </p:nvSpPr>
          <p:spPr>
            <a:xfrm>
              <a:off x="0" y="0"/>
              <a:ext cx="1914600" cy="38100"/>
            </a:xfrm>
            <a:prstGeom prst="roundRect">
              <a:avLst>
                <a:gd fmla="val 50000" name="adj"/>
              </a:avLst>
            </a:prstGeom>
            <a:solidFill>
              <a:srgbClr val="0056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7"/>
            <p:cNvSpPr txBox="1"/>
            <p:nvPr/>
          </p:nvSpPr>
          <p:spPr>
            <a:xfrm>
              <a:off x="152400" y="152400"/>
              <a:ext cx="16098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95057"/>
                  </a:solidFill>
                  <a:latin typeface="Roboto"/>
                  <a:ea typeface="Roboto"/>
                  <a:cs typeface="Roboto"/>
                  <a:sym typeface="Roboto"/>
                </a:rPr>
                <a:t>INTEGRANTE</a:t>
              </a:r>
              <a:endParaRPr b="1" sz="1100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A2B4C"/>
                  </a:solidFill>
                  <a:latin typeface="Roboto"/>
                  <a:ea typeface="Roboto"/>
                  <a:cs typeface="Roboto"/>
                  <a:sym typeface="Roboto"/>
                </a:rPr>
                <a:t>Sebastián Escobar Castellanos</a:t>
              </a:r>
              <a:endParaRPr b="1" sz="1500">
                <a:solidFill>
                  <a:srgbClr val="1A2B4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4" name="Google Shape;174;p27"/>
          <p:cNvGrpSpPr/>
          <p:nvPr/>
        </p:nvGrpSpPr>
        <p:grpSpPr>
          <a:xfrm>
            <a:off x="4819650" y="4711500"/>
            <a:ext cx="2552736" cy="1206370"/>
            <a:chOff x="0" y="0"/>
            <a:chExt cx="1914600" cy="904800"/>
          </a:xfrm>
        </p:grpSpPr>
        <p:sp>
          <p:nvSpPr>
            <p:cNvPr id="175" name="Google Shape;175;p27"/>
            <p:cNvSpPr/>
            <p:nvPr/>
          </p:nvSpPr>
          <p:spPr>
            <a:xfrm>
              <a:off x="0" y="0"/>
              <a:ext cx="1914600" cy="904800"/>
            </a:xfrm>
            <a:prstGeom prst="roundRect">
              <a:avLst>
                <a:gd fmla="val 421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7"/>
            <p:cNvSpPr/>
            <p:nvPr/>
          </p:nvSpPr>
          <p:spPr>
            <a:xfrm>
              <a:off x="0" y="0"/>
              <a:ext cx="1914600" cy="38100"/>
            </a:xfrm>
            <a:prstGeom prst="roundRect">
              <a:avLst>
                <a:gd fmla="val 50000" name="adj"/>
              </a:avLst>
            </a:prstGeom>
            <a:solidFill>
              <a:srgbClr val="0056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7"/>
            <p:cNvSpPr txBox="1"/>
            <p:nvPr/>
          </p:nvSpPr>
          <p:spPr>
            <a:xfrm>
              <a:off x="152400" y="152400"/>
              <a:ext cx="16098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95057"/>
                  </a:solidFill>
                  <a:latin typeface="Roboto"/>
                  <a:ea typeface="Roboto"/>
                  <a:cs typeface="Roboto"/>
                  <a:sym typeface="Roboto"/>
                </a:rPr>
                <a:t>INTEGRANTE</a:t>
              </a:r>
              <a:endParaRPr b="1" sz="1100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A2B4C"/>
                  </a:solidFill>
                  <a:latin typeface="Roboto"/>
                  <a:ea typeface="Roboto"/>
                  <a:cs typeface="Roboto"/>
                  <a:sym typeface="Roboto"/>
                </a:rPr>
                <a:t>Alejandro Santos Nivia</a:t>
              </a:r>
              <a:endParaRPr b="1" sz="1500">
                <a:solidFill>
                  <a:srgbClr val="1A2B4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8" name="Google Shape;178;p27"/>
          <p:cNvGrpSpPr/>
          <p:nvPr/>
        </p:nvGrpSpPr>
        <p:grpSpPr>
          <a:xfrm>
            <a:off x="9029700" y="4724400"/>
            <a:ext cx="2552736" cy="1206370"/>
            <a:chOff x="0" y="0"/>
            <a:chExt cx="1914600" cy="904800"/>
          </a:xfrm>
        </p:grpSpPr>
        <p:sp>
          <p:nvSpPr>
            <p:cNvPr id="179" name="Google Shape;179;p27"/>
            <p:cNvSpPr/>
            <p:nvPr/>
          </p:nvSpPr>
          <p:spPr>
            <a:xfrm>
              <a:off x="0" y="0"/>
              <a:ext cx="1914600" cy="904800"/>
            </a:xfrm>
            <a:prstGeom prst="roundRect">
              <a:avLst>
                <a:gd fmla="val 421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7"/>
            <p:cNvSpPr/>
            <p:nvPr/>
          </p:nvSpPr>
          <p:spPr>
            <a:xfrm>
              <a:off x="0" y="0"/>
              <a:ext cx="1914600" cy="38100"/>
            </a:xfrm>
            <a:prstGeom prst="roundRect">
              <a:avLst>
                <a:gd fmla="val 50000" name="adj"/>
              </a:avLst>
            </a:prstGeom>
            <a:solidFill>
              <a:srgbClr val="0056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7"/>
            <p:cNvSpPr txBox="1"/>
            <p:nvPr/>
          </p:nvSpPr>
          <p:spPr>
            <a:xfrm>
              <a:off x="152400" y="152400"/>
              <a:ext cx="16098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95057"/>
                  </a:solidFill>
                  <a:latin typeface="Roboto"/>
                  <a:ea typeface="Roboto"/>
                  <a:cs typeface="Roboto"/>
                  <a:sym typeface="Roboto"/>
                </a:rPr>
                <a:t>INTEGRANTE</a:t>
              </a:r>
              <a:endParaRPr b="1" sz="1100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A2B4C"/>
                  </a:solidFill>
                  <a:latin typeface="Roboto"/>
                  <a:ea typeface="Roboto"/>
                  <a:cs typeface="Roboto"/>
                  <a:sym typeface="Roboto"/>
                </a:rPr>
                <a:t>Juan Sebastian Tobar Romero</a:t>
              </a:r>
              <a:endParaRPr b="1" sz="1500">
                <a:solidFill>
                  <a:srgbClr val="1A2B4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/>
          <p:nvPr/>
        </p:nvSpPr>
        <p:spPr>
          <a:xfrm>
            <a:off x="5972163" y="3260375"/>
            <a:ext cx="5610300" cy="2466900"/>
          </a:xfrm>
          <a:prstGeom prst="roundRect">
            <a:avLst>
              <a:gd fmla="val 6177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609600" y="2335708"/>
            <a:ext cx="4981500" cy="10647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609600" y="3590925"/>
            <a:ext cx="4981500" cy="851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609600" y="4632870"/>
            <a:ext cx="4981500" cy="851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609600" y="2335708"/>
            <a:ext cx="38100" cy="1064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8"/>
          <p:cNvSpPr/>
          <p:nvPr/>
        </p:nvSpPr>
        <p:spPr>
          <a:xfrm>
            <a:off x="609600" y="3590925"/>
            <a:ext cx="38100" cy="851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8"/>
          <p:cNvSpPr/>
          <p:nvPr/>
        </p:nvSpPr>
        <p:spPr>
          <a:xfrm>
            <a:off x="609600" y="4632870"/>
            <a:ext cx="38100" cy="851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CONCEPTO CLAVE</a:t>
            </a:r>
            <a:endParaRPr b="1" i="0" sz="1050" u="none" strike="noStrike">
              <a:solidFill>
                <a:srgbClr val="0056B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609600" y="695325"/>
            <a:ext cx="1158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1A2B4C"/>
                </a:solidFill>
                <a:latin typeface="Roboto"/>
                <a:ea typeface="Roboto"/>
                <a:cs typeface="Roboto"/>
                <a:sym typeface="Roboto"/>
              </a:rPr>
              <a:t>¿Qué es el Algoritmo de Floyd?</a:t>
            </a:r>
            <a:endParaRPr b="1" i="0" sz="2400" u="none" strike="noStrike">
              <a:solidFill>
                <a:srgbClr val="1A2B4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strike="noStrike">
              <a:solidFill>
                <a:srgbClr val="1A2B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6870799" y="3925713"/>
            <a:ext cx="381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La Metáfora de la Pista Circular</a:t>
            </a:r>
            <a:endParaRPr b="1" i="0" sz="1500" u="none" strike="noStrike">
              <a:solidFill>
                <a:srgbClr val="0056B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6222825" y="4383925"/>
            <a:ext cx="510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En un circuito cerrado, el corredor rápido inevitablemente </a:t>
            </a:r>
            <a:r>
              <a:rPr b="1" i="0" lang="en-US" sz="1200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alcanzará por detrás</a:t>
            </a:r>
            <a:r>
              <a:rPr b="0" i="0" lang="en-US" sz="1200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 al corredor lento. Si el camino es recto, la liebre simplemente llegará al final (</a:t>
            </a:r>
            <a:r>
              <a:rPr b="1" i="0" lang="en-US" sz="1200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null</a:t>
            </a:r>
            <a:r>
              <a:rPr b="0" i="0" lang="en-US" sz="1200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b="0" i="0" sz="1200" u="none" strike="noStrike">
              <a:solidFill>
                <a:srgbClr val="49505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876300" y="2529746"/>
            <a:ext cx="588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9" u="none" strike="noStrike">
                <a:solidFill>
                  <a:srgbClr val="1A2B4C"/>
                </a:solidFill>
                <a:latin typeface="Roboto"/>
                <a:ea typeface="Roboto"/>
                <a:cs typeface="Roboto"/>
                <a:sym typeface="Roboto"/>
              </a:rPr>
              <a:t>Punteros a Distintas Velocidades</a:t>
            </a:r>
            <a:endParaRPr b="1" i="0" sz="1249" u="none" strike="noStrike">
              <a:solidFill>
                <a:srgbClr val="1A2B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876300" y="2783383"/>
            <a:ext cx="45816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0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Dos referencias recorren la misma estructura iniciando desde el origen.</a:t>
            </a:r>
            <a:endParaRPr b="0" i="0" sz="1110" u="none" strike="noStrike">
              <a:solidFill>
                <a:srgbClr val="49505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1035450" y="3767900"/>
            <a:ext cx="588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9" u="none" strike="noStrike">
                <a:solidFill>
                  <a:srgbClr val="1A2B4C"/>
                </a:solidFill>
                <a:latin typeface="Roboto"/>
                <a:ea typeface="Roboto"/>
                <a:cs typeface="Roboto"/>
                <a:sym typeface="Roboto"/>
              </a:rPr>
              <a:t>La Tortuga (Slow)</a:t>
            </a:r>
            <a:endParaRPr b="1" i="0" sz="1249" u="none" strike="noStrike">
              <a:solidFill>
                <a:srgbClr val="1A2B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876300" y="4038600"/>
            <a:ext cx="457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Avanza exactamente </a:t>
            </a:r>
            <a:r>
              <a:rPr b="1" i="0" lang="en-US" sz="1200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1 nodo</a:t>
            </a:r>
            <a:r>
              <a:rPr b="0" i="0" lang="en-US" sz="1200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 por pulso de reloj.</a:t>
            </a:r>
            <a:endParaRPr b="0" i="0" sz="1200" u="none" strike="noStrike">
              <a:solidFill>
                <a:srgbClr val="49505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876300" y="4861595"/>
            <a:ext cx="5888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9" u="none" strike="noStrike">
                <a:solidFill>
                  <a:srgbClr val="1A2B4C"/>
                </a:solidFill>
                <a:latin typeface="Roboto"/>
                <a:ea typeface="Roboto"/>
                <a:cs typeface="Roboto"/>
                <a:sym typeface="Roboto"/>
              </a:rPr>
              <a:t>La Liebre (Fast)</a:t>
            </a:r>
            <a:endParaRPr b="1" i="0" sz="1249" u="none" strike="noStrike">
              <a:solidFill>
                <a:srgbClr val="1A2B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876300" y="5080545"/>
            <a:ext cx="457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Avanza exactamente </a:t>
            </a:r>
            <a:r>
              <a:rPr b="1" i="0" lang="en-US" sz="1200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2 nodos</a:t>
            </a:r>
            <a:r>
              <a:rPr b="0" i="0" lang="en-US" sz="1200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 por pulso de reloj.</a:t>
            </a:r>
            <a:endParaRPr b="0" i="0" sz="1200" u="none" strike="noStrike">
              <a:solidFill>
                <a:srgbClr val="49505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3" name="Google Shape;203;p28" title="dqXHq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6050" y="949038"/>
            <a:ext cx="47625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2537" y="32604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58275" y="343185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8" title="Screenshot 2026-10-18 23384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6300" y="2545033"/>
            <a:ext cx="159155" cy="1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6300" y="3781425"/>
            <a:ext cx="159150" cy="165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76300" y="4861589"/>
            <a:ext cx="159150" cy="173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/>
          <p:nvPr/>
        </p:nvSpPr>
        <p:spPr>
          <a:xfrm>
            <a:off x="6915150" y="2338387"/>
            <a:ext cx="4667400" cy="800100"/>
          </a:xfrm>
          <a:prstGeom prst="roundRect">
            <a:avLst>
              <a:gd fmla="val 14285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9"/>
          <p:cNvSpPr/>
          <p:nvPr/>
        </p:nvSpPr>
        <p:spPr>
          <a:xfrm>
            <a:off x="6915150" y="3290887"/>
            <a:ext cx="4667400" cy="990600"/>
          </a:xfrm>
          <a:prstGeom prst="roundRect">
            <a:avLst>
              <a:gd fmla="val 11538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6915150" y="4433887"/>
            <a:ext cx="4667400" cy="1009800"/>
          </a:xfrm>
          <a:prstGeom prst="roundRect">
            <a:avLst>
              <a:gd fmla="val 11320" name="adj"/>
            </a:avLst>
          </a:prstGeom>
          <a:solidFill>
            <a:srgbClr val="DCFCE7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FASE 1</a:t>
            </a:r>
            <a:endParaRPr b="1" i="0" sz="1050" u="none" strike="noStrike">
              <a:solidFill>
                <a:srgbClr val="0056B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9"/>
          <p:cNvSpPr txBox="1"/>
          <p:nvPr/>
        </p:nvSpPr>
        <p:spPr>
          <a:xfrm>
            <a:off x="609600" y="695325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1A2B4C"/>
                </a:solidFill>
                <a:latin typeface="Roboto"/>
                <a:ea typeface="Roboto"/>
                <a:cs typeface="Roboto"/>
                <a:sym typeface="Roboto"/>
              </a:rPr>
              <a:t>Confirmar si Existe un Ciclo</a:t>
            </a:r>
            <a:endParaRPr b="1" i="0" sz="2400" u="none" strike="noStrike">
              <a:solidFill>
                <a:srgbClr val="1A2B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9"/>
          <p:cNvSpPr txBox="1"/>
          <p:nvPr/>
        </p:nvSpPr>
        <p:spPr>
          <a:xfrm>
            <a:off x="7105650" y="2528887"/>
            <a:ext cx="4381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Paso 1: Inicio</a:t>
            </a:r>
            <a:endParaRPr b="1" i="0" sz="900" u="none" strike="noStrike">
              <a:solidFill>
                <a:srgbClr val="0056B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7105650" y="3481387"/>
            <a:ext cx="4381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Paso 2: Avance Desigual</a:t>
            </a:r>
            <a:endParaRPr b="1" i="0" sz="900" u="none" strike="noStrike">
              <a:solidFill>
                <a:srgbClr val="0056B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7105650" y="4624387"/>
            <a:ext cx="4381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strike="noStrike">
                <a:solidFill>
                  <a:srgbClr val="15803D"/>
                </a:solidFill>
                <a:latin typeface="Roboto"/>
                <a:ea typeface="Roboto"/>
                <a:cs typeface="Roboto"/>
                <a:sym typeface="Roboto"/>
              </a:rPr>
              <a:t>Paso 3: Colisión Garantizada</a:t>
            </a:r>
            <a:endParaRPr b="1" i="0" sz="900" u="none" strike="noStrike">
              <a:solidFill>
                <a:srgbClr val="1580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29"/>
          <p:cNvSpPr txBox="1"/>
          <p:nvPr/>
        </p:nvSpPr>
        <p:spPr>
          <a:xfrm>
            <a:off x="7105650" y="2757487"/>
            <a:ext cx="5086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rgbClr val="1A2B4C"/>
                </a:solidFill>
                <a:latin typeface="Roboto"/>
                <a:ea typeface="Roboto"/>
                <a:cs typeface="Roboto"/>
                <a:sym typeface="Roboto"/>
              </a:rPr>
              <a:t>Ambos punteros inician en la cabeza (</a:t>
            </a:r>
            <a:r>
              <a:rPr b="1" i="0" lang="en-US" sz="1200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head</a:t>
            </a:r>
            <a:r>
              <a:rPr b="0" i="0" lang="en-US" sz="1200" u="none" strike="noStrike">
                <a:solidFill>
                  <a:srgbClr val="1A2B4C"/>
                </a:solidFill>
                <a:latin typeface="Roboto"/>
                <a:ea typeface="Roboto"/>
                <a:cs typeface="Roboto"/>
                <a:sym typeface="Roboto"/>
              </a:rPr>
              <a:t>) de la lista.</a:t>
            </a:r>
            <a:endParaRPr b="0" i="0" sz="1200" u="none" strike="noStrike">
              <a:solidFill>
                <a:srgbClr val="1A2B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7105650" y="3709987"/>
            <a:ext cx="438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1A2B4C"/>
                </a:solidFill>
                <a:latin typeface="Roboto"/>
                <a:ea typeface="Roboto"/>
                <a:cs typeface="Roboto"/>
                <a:sym typeface="Roboto"/>
              </a:rPr>
              <a:t>En cada pulso: Tortuga avanza 1 nodo, Liebre avanza 2 nodos.</a:t>
            </a:r>
            <a:endParaRPr b="1" i="0" sz="1200" u="none" strike="noStrike">
              <a:solidFill>
                <a:srgbClr val="1A2B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9"/>
          <p:cNvSpPr txBox="1"/>
          <p:nvPr/>
        </p:nvSpPr>
        <p:spPr>
          <a:xfrm>
            <a:off x="7115175" y="4862512"/>
            <a:ext cx="436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rgbClr val="166534"/>
                </a:solidFill>
                <a:latin typeface="Roboto"/>
                <a:ea typeface="Roboto"/>
                <a:cs typeface="Roboto"/>
                <a:sym typeface="Roboto"/>
              </a:rPr>
              <a:t>Si </a:t>
            </a:r>
            <a:r>
              <a:rPr b="1" i="0" lang="en-US" sz="1200" u="none" strike="noStrike">
                <a:solidFill>
                  <a:srgbClr val="166534"/>
                </a:solidFill>
                <a:latin typeface="Roboto"/>
                <a:ea typeface="Roboto"/>
                <a:cs typeface="Roboto"/>
                <a:sym typeface="Roboto"/>
              </a:rPr>
              <a:t>tortuga == liebre</a:t>
            </a:r>
            <a:r>
              <a:rPr b="0" i="0" lang="en-US" sz="1200" u="none" strike="noStrike">
                <a:solidFill>
                  <a:srgbClr val="166534"/>
                </a:solidFill>
                <a:latin typeface="Roboto"/>
                <a:ea typeface="Roboto"/>
                <a:cs typeface="Roboto"/>
                <a:sym typeface="Roboto"/>
              </a:rPr>
              <a:t>, ¡se confirma la presencia del bucle!</a:t>
            </a:r>
            <a:endParaRPr b="0" i="0" sz="1200" u="none" strike="noStrike">
              <a:solidFill>
                <a:srgbClr val="16653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224" name="Google Shape;22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233612"/>
            <a:ext cx="59245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43137"/>
            <a:ext cx="5600700" cy="32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/>
          <p:nvPr/>
        </p:nvSpPr>
        <p:spPr>
          <a:xfrm>
            <a:off x="6915150" y="2338387"/>
            <a:ext cx="4667400" cy="9336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6915150" y="3424237"/>
            <a:ext cx="4667400" cy="933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6915150" y="4510087"/>
            <a:ext cx="4667400" cy="9336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6915150" y="2338387"/>
            <a:ext cx="38100" cy="9336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/>
          <p:nvPr/>
        </p:nvSpPr>
        <p:spPr>
          <a:xfrm>
            <a:off x="6915150" y="3424237"/>
            <a:ext cx="38100" cy="933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0"/>
          <p:cNvSpPr/>
          <p:nvPr/>
        </p:nvSpPr>
        <p:spPr>
          <a:xfrm>
            <a:off x="6915150" y="4510087"/>
            <a:ext cx="38100" cy="933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0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FASE 2</a:t>
            </a:r>
            <a:endParaRPr b="1" i="0" sz="1050" u="none" strike="noStrike">
              <a:solidFill>
                <a:srgbClr val="0056B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0"/>
          <p:cNvSpPr txBox="1"/>
          <p:nvPr/>
        </p:nvSpPr>
        <p:spPr>
          <a:xfrm>
            <a:off x="609600" y="695325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1A2B4C"/>
                </a:solidFill>
                <a:latin typeface="Roboto"/>
                <a:ea typeface="Roboto"/>
                <a:cs typeface="Roboto"/>
                <a:sym typeface="Roboto"/>
              </a:rPr>
              <a:t>Localizar el Inicio del Ciclo</a:t>
            </a:r>
            <a:endParaRPr b="1" i="0" sz="2400" u="none" strike="noStrike">
              <a:solidFill>
                <a:srgbClr val="1A2B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0"/>
          <p:cNvSpPr txBox="1"/>
          <p:nvPr/>
        </p:nvSpPr>
        <p:spPr>
          <a:xfrm>
            <a:off x="7143750" y="2509837"/>
            <a:ext cx="504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C2410C"/>
                </a:solidFill>
                <a:latin typeface="Roboto"/>
                <a:ea typeface="Roboto"/>
                <a:cs typeface="Roboto"/>
                <a:sym typeface="Roboto"/>
              </a:rPr>
              <a:t>1. Reiniciar un Puntero</a:t>
            </a:r>
            <a:endParaRPr b="1" i="0" sz="1200" u="none" strike="noStrike">
              <a:solidFill>
                <a:srgbClr val="C2410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30"/>
          <p:cNvSpPr txBox="1"/>
          <p:nvPr/>
        </p:nvSpPr>
        <p:spPr>
          <a:xfrm>
            <a:off x="7143750" y="2738437"/>
            <a:ext cx="43434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strike="noStrike">
                <a:solidFill>
                  <a:srgbClr val="7C2D12"/>
                </a:solidFill>
                <a:latin typeface="Roboto"/>
                <a:ea typeface="Roboto"/>
                <a:cs typeface="Roboto"/>
                <a:sym typeface="Roboto"/>
              </a:rPr>
              <a:t>Se traslada un puntero de vuelta a la cabeza (</a:t>
            </a:r>
            <a:r>
              <a:rPr b="1" i="0" lang="en-US" sz="1120" u="none" strike="noStrike">
                <a:solidFill>
                  <a:srgbClr val="7C2D12"/>
                </a:solidFill>
                <a:latin typeface="Roboto"/>
                <a:ea typeface="Roboto"/>
                <a:cs typeface="Roboto"/>
                <a:sym typeface="Roboto"/>
              </a:rPr>
              <a:t>head</a:t>
            </a:r>
            <a:r>
              <a:rPr b="0" i="0" lang="en-US" sz="1120" u="none" strike="noStrike">
                <a:solidFill>
                  <a:srgbClr val="7C2D12"/>
                </a:solidFill>
                <a:latin typeface="Roboto"/>
                <a:ea typeface="Roboto"/>
                <a:cs typeface="Roboto"/>
                <a:sym typeface="Roboto"/>
              </a:rPr>
              <a:t>) y el otro se mantiene en el punto de encuentro.</a:t>
            </a:r>
            <a:endParaRPr b="0" i="0" sz="1120" u="none" strike="noStrike">
              <a:solidFill>
                <a:srgbClr val="7C2D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0"/>
          <p:cNvSpPr txBox="1"/>
          <p:nvPr/>
        </p:nvSpPr>
        <p:spPr>
          <a:xfrm>
            <a:off x="7143750" y="3595687"/>
            <a:ext cx="504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2. Ritmo Uniforme (1 nodo/pulso)</a:t>
            </a:r>
            <a:endParaRPr b="1" i="0" sz="1200" u="none" strike="noStrike">
              <a:solidFill>
                <a:srgbClr val="0056B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0"/>
          <p:cNvSpPr txBox="1"/>
          <p:nvPr/>
        </p:nvSpPr>
        <p:spPr>
          <a:xfrm>
            <a:off x="7143750" y="3824287"/>
            <a:ext cx="4343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Se avanzan ambos punteros exactamente a la misma velocidad de </a:t>
            </a:r>
            <a:r>
              <a:rPr b="1" i="0" lang="en-US" sz="1125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1 paso por pulso</a:t>
            </a:r>
            <a:r>
              <a:rPr b="0" i="0" lang="en-US" sz="1125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125" u="none" strike="noStrike">
              <a:solidFill>
                <a:srgbClr val="0056B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0"/>
          <p:cNvSpPr txBox="1"/>
          <p:nvPr/>
        </p:nvSpPr>
        <p:spPr>
          <a:xfrm>
            <a:off x="7143750" y="4681537"/>
            <a:ext cx="504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15803D"/>
                </a:solidFill>
                <a:latin typeface="Roboto"/>
                <a:ea typeface="Roboto"/>
                <a:cs typeface="Roboto"/>
                <a:sym typeface="Roboto"/>
              </a:rPr>
              <a:t>3. Punto de Reencuentro</a:t>
            </a:r>
            <a:endParaRPr b="1" i="0" sz="1200" u="none" strike="noStrike">
              <a:solidFill>
                <a:srgbClr val="1580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0"/>
          <p:cNvSpPr txBox="1"/>
          <p:nvPr/>
        </p:nvSpPr>
        <p:spPr>
          <a:xfrm>
            <a:off x="7143750" y="4910137"/>
            <a:ext cx="4343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strike="noStrike">
                <a:solidFill>
                  <a:srgbClr val="166534"/>
                </a:solidFill>
                <a:latin typeface="Roboto"/>
                <a:ea typeface="Roboto"/>
                <a:cs typeface="Roboto"/>
                <a:sym typeface="Roboto"/>
              </a:rPr>
              <a:t>El nuevo punto donde vuelven a colisionar es </a:t>
            </a:r>
            <a:r>
              <a:rPr b="1" i="0" lang="en-US" sz="1125" u="none" strike="noStrike">
                <a:solidFill>
                  <a:srgbClr val="166534"/>
                </a:solidFill>
                <a:latin typeface="Roboto"/>
                <a:ea typeface="Roboto"/>
                <a:cs typeface="Roboto"/>
                <a:sym typeface="Roboto"/>
              </a:rPr>
              <a:t>exactamente donde inicia el ciclo</a:t>
            </a:r>
            <a:r>
              <a:rPr b="0" i="0" lang="en-US" sz="1125" u="none" strike="noStrike">
                <a:solidFill>
                  <a:srgbClr val="166534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125" u="none" strike="noStrike">
              <a:solidFill>
                <a:srgbClr val="16653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244" name="Google Shape;24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081212"/>
            <a:ext cx="59245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43137"/>
            <a:ext cx="5600700" cy="32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/>
          <p:nvPr/>
        </p:nvSpPr>
        <p:spPr>
          <a:xfrm>
            <a:off x="609600" y="1304925"/>
            <a:ext cx="6413400" cy="5095800"/>
          </a:xfrm>
          <a:prstGeom prst="roundRect">
            <a:avLst>
              <a:gd fmla="val 2242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1"/>
          <p:cNvSpPr/>
          <p:nvPr/>
        </p:nvSpPr>
        <p:spPr>
          <a:xfrm>
            <a:off x="7327850" y="2741414"/>
            <a:ext cx="4254600" cy="1040100"/>
          </a:xfrm>
          <a:prstGeom prst="roundRect">
            <a:avLst>
              <a:gd fmla="val 1099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1"/>
          <p:cNvSpPr/>
          <p:nvPr/>
        </p:nvSpPr>
        <p:spPr>
          <a:xfrm>
            <a:off x="7327850" y="3933825"/>
            <a:ext cx="4254600" cy="1030500"/>
          </a:xfrm>
          <a:prstGeom prst="roundRect">
            <a:avLst>
              <a:gd fmla="val 1109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1"/>
          <p:cNvSpPr/>
          <p:nvPr/>
        </p:nvSpPr>
        <p:spPr>
          <a:xfrm>
            <a:off x="838200" y="1924645"/>
            <a:ext cx="95400" cy="954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1"/>
          <p:cNvSpPr/>
          <p:nvPr/>
        </p:nvSpPr>
        <p:spPr>
          <a:xfrm>
            <a:off x="1009650" y="1924645"/>
            <a:ext cx="95400" cy="954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1"/>
          <p:cNvSpPr/>
          <p:nvPr/>
        </p:nvSpPr>
        <p:spPr>
          <a:xfrm>
            <a:off x="1181100" y="1924645"/>
            <a:ext cx="95400" cy="954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1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CÓDIGO</a:t>
            </a:r>
            <a:endParaRPr b="1" i="0" sz="1050" u="none" strike="noStrike">
              <a:solidFill>
                <a:srgbClr val="0056B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31"/>
          <p:cNvSpPr txBox="1"/>
          <p:nvPr/>
        </p:nvSpPr>
        <p:spPr>
          <a:xfrm>
            <a:off x="609600" y="695325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1A2B4C"/>
                </a:solidFill>
                <a:latin typeface="Roboto"/>
                <a:ea typeface="Roboto"/>
                <a:cs typeface="Roboto"/>
                <a:sym typeface="Roboto"/>
              </a:rPr>
              <a:t>Implementación en Java</a:t>
            </a:r>
            <a:endParaRPr b="1" i="0" sz="2400" u="none" strike="noStrike">
              <a:solidFill>
                <a:srgbClr val="1A2B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31"/>
          <p:cNvSpPr txBox="1"/>
          <p:nvPr/>
        </p:nvSpPr>
        <p:spPr>
          <a:xfrm>
            <a:off x="838200" y="2133600"/>
            <a:ext cx="6048300" cy="4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1" u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ListNode </a:t>
            </a:r>
            <a:r>
              <a:rPr b="0" i="0" lang="en-US" sz="971" u="non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detectCycle</a:t>
            </a: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971" u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ListNode</a:t>
            </a: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head) {</a:t>
            </a:r>
            <a:endParaRPr b="0" i="0" sz="971" u="none">
              <a:solidFill>
                <a:srgbClr val="F472B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1" u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</a:t>
            </a: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(head == </a:t>
            </a:r>
            <a:r>
              <a:rPr b="0" i="0" lang="en-US" sz="971" u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null</a:t>
            </a: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|| head.next == </a:t>
            </a:r>
            <a:r>
              <a:rPr b="0" i="0" lang="en-US" sz="971" u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null</a:t>
            </a: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i="0" sz="971" u="none">
              <a:solidFill>
                <a:srgbClr val="F472B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1" u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null</a:t>
            </a: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b="0" i="0" sz="971" u="none">
              <a:solidFill>
                <a:srgbClr val="F472B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971" u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ListNode</a:t>
            </a: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slow = head, fast = head;</a:t>
            </a:r>
            <a:endParaRPr b="0" i="0" sz="971" u="none">
              <a:solidFill>
                <a:srgbClr val="F472B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971" u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// Fase 1: Detección de colisión (Tortuga x1, Liebre x2)</a:t>
            </a:r>
            <a:endParaRPr b="0" i="0" sz="971" u="none">
              <a:solidFill>
                <a:srgbClr val="F472B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1" u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while</a:t>
            </a: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(fast != </a:t>
            </a:r>
            <a:r>
              <a:rPr b="0" i="0" lang="en-US" sz="971" u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null</a:t>
            </a: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&amp;&amp; fast.next != </a:t>
            </a:r>
            <a:r>
              <a:rPr b="0" i="0" lang="en-US" sz="971" u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null</a:t>
            </a: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b="0" i="0" sz="971" u="none">
              <a:solidFill>
                <a:srgbClr val="F472B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slow = slow.next;</a:t>
            </a:r>
            <a:endParaRPr b="0" i="0" sz="971" u="none">
              <a:solidFill>
                <a:srgbClr val="F472B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fast = fast.next.next;</a:t>
            </a:r>
            <a:endParaRPr b="0" i="0" sz="971" u="none">
              <a:solidFill>
                <a:srgbClr val="F472B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1" u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if</a:t>
            </a: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(slow == fast) </a:t>
            </a:r>
            <a:r>
              <a:rPr b="0" i="0" lang="en-US" sz="971" u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break</a:t>
            </a: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b="0" i="0" lang="en-US" sz="971" u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¡Hay ciclo!</a:t>
            </a:r>
            <a:endParaRPr b="0" i="0" sz="971" u="none">
              <a:solidFill>
                <a:srgbClr val="F472B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endParaRPr b="0" i="0" sz="971" u="none">
              <a:solidFill>
                <a:srgbClr val="F472B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971" u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</a:t>
            </a: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(fast == </a:t>
            </a:r>
            <a:r>
              <a:rPr b="0" i="0" lang="en-US" sz="971" u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null</a:t>
            </a: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|| fast.next == </a:t>
            </a:r>
            <a:r>
              <a:rPr b="0" i="0" lang="en-US" sz="971" u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null</a:t>
            </a: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i="0" sz="971" u="none">
              <a:solidFill>
                <a:srgbClr val="F472B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1" u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null</a:t>
            </a: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b="0" i="0" sz="971" u="none">
              <a:solidFill>
                <a:srgbClr val="F472B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971" u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// Fase 2: Localizar el inicio del ciclo (Ambos a x1)</a:t>
            </a:r>
            <a:endParaRPr b="0" i="0" sz="971" u="none">
              <a:solidFill>
                <a:srgbClr val="F472B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slow = head;</a:t>
            </a:r>
            <a:endParaRPr b="0" i="0" sz="971" u="none">
              <a:solidFill>
                <a:srgbClr val="F472B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1" u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while</a:t>
            </a: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(slow != fast) {</a:t>
            </a:r>
            <a:endParaRPr b="0" i="0" sz="971" u="none">
              <a:solidFill>
                <a:srgbClr val="F472B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slow = slow.next;</a:t>
            </a:r>
            <a:endParaRPr b="0" i="0" sz="971" u="none">
              <a:solidFill>
                <a:srgbClr val="F472B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fast = fast.next;</a:t>
            </a:r>
            <a:endParaRPr b="0" i="0" sz="971" u="none">
              <a:solidFill>
                <a:srgbClr val="F472B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endParaRPr b="0" i="0" sz="971" u="none">
              <a:solidFill>
                <a:srgbClr val="F472B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1" u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</a:t>
            </a: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slow; </a:t>
            </a:r>
            <a:r>
              <a:rPr b="0" i="0" lang="en-US" sz="971" u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Nodo donde inicia el ciclo</a:t>
            </a:r>
            <a:endParaRPr b="0" i="0" sz="971" u="none">
              <a:solidFill>
                <a:srgbClr val="F472B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1" u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i="0" sz="971" u="none">
              <a:solidFill>
                <a:srgbClr val="F472B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59" name="Google Shape;259;p31"/>
          <p:cNvSpPr txBox="1"/>
          <p:nvPr/>
        </p:nvSpPr>
        <p:spPr>
          <a:xfrm>
            <a:off x="1428750" y="1924645"/>
            <a:ext cx="1666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LinkedListCycle.java</a:t>
            </a:r>
            <a:endParaRPr b="0" i="0" sz="900" u="none" strike="noStrike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60" name="Google Shape;260;p31"/>
          <p:cNvSpPr txBox="1"/>
          <p:nvPr/>
        </p:nvSpPr>
        <p:spPr>
          <a:xfrm>
            <a:off x="7527875" y="3189089"/>
            <a:ext cx="39498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slow = slow.next</a:t>
            </a:r>
            <a:r>
              <a:rPr b="0" i="0" lang="en-US" sz="1050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 avanza 1 paso y </a:t>
            </a:r>
            <a:r>
              <a:rPr b="0" i="0" lang="en-US" sz="1050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fast = fast.next.next</a:t>
            </a:r>
            <a:r>
              <a:rPr b="0" i="0" lang="en-US" sz="1050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 avanza 2 pasos.</a:t>
            </a:r>
            <a:endParaRPr b="0" i="0" sz="1050" u="none" strike="noStrike">
              <a:solidFill>
                <a:srgbClr val="0056B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31"/>
          <p:cNvSpPr txBox="1"/>
          <p:nvPr/>
        </p:nvSpPr>
        <p:spPr>
          <a:xfrm>
            <a:off x="7527875" y="4381500"/>
            <a:ext cx="3949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1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Al reiniciar </a:t>
            </a:r>
            <a:r>
              <a:rPr b="0" i="0" lang="en-US" sz="971" u="none" strike="noStrike">
                <a:solidFill>
                  <a:srgbClr val="1A2B4C"/>
                </a:solidFill>
                <a:latin typeface="Roboto"/>
                <a:ea typeface="Roboto"/>
                <a:cs typeface="Roboto"/>
                <a:sym typeface="Roboto"/>
              </a:rPr>
              <a:t>slow = head</a:t>
            </a:r>
            <a:r>
              <a:rPr b="0" i="0" lang="en-US" sz="971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, ambos avanzan a velocidad idéntica de 1 nodo por paso.</a:t>
            </a:r>
            <a:endParaRPr b="0" i="0" sz="971" u="none" strike="noStrike">
              <a:solidFill>
                <a:srgbClr val="49505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31"/>
          <p:cNvSpPr txBox="1"/>
          <p:nvPr/>
        </p:nvSpPr>
        <p:spPr>
          <a:xfrm>
            <a:off x="7527875" y="2897187"/>
            <a:ext cx="504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1" i="0" lang="en-US" sz="1200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. Bucle de </a:t>
            </a:r>
            <a:r>
              <a:rPr b="1" lang="en-US" sz="1200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="1" i="0" lang="en-US" sz="1200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etección</a:t>
            </a:r>
            <a:endParaRPr b="1" i="0" sz="1200" u="none" strike="noStrike">
              <a:solidFill>
                <a:srgbClr val="0056B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31"/>
          <p:cNvSpPr txBox="1"/>
          <p:nvPr/>
        </p:nvSpPr>
        <p:spPr>
          <a:xfrm>
            <a:off x="7527875" y="4139662"/>
            <a:ext cx="504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2. </a:t>
            </a:r>
            <a:r>
              <a:rPr b="1" lang="en-US" sz="1200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Bucle de Reencuentro</a:t>
            </a:r>
            <a:endParaRPr b="1" i="0" sz="1200" u="none" strike="noStrike">
              <a:solidFill>
                <a:srgbClr val="0056B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"/>
          <p:cNvSpPr/>
          <p:nvPr/>
        </p:nvSpPr>
        <p:spPr>
          <a:xfrm>
            <a:off x="4262437" y="4017615"/>
            <a:ext cx="3667125" cy="590550"/>
          </a:xfrm>
          <a:prstGeom prst="roundRect">
            <a:avLst>
              <a:gd fmla="val 25806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9" name="Google Shape;26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762" y="4217640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2"/>
          <p:cNvSpPr txBox="1"/>
          <p:nvPr/>
        </p:nvSpPr>
        <p:spPr>
          <a:xfrm>
            <a:off x="5232796" y="2249834"/>
            <a:ext cx="17264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 DE LA TEORÍA</a:t>
            </a:r>
            <a:endParaRPr/>
          </a:p>
        </p:txBody>
      </p:sp>
      <p:sp>
        <p:nvSpPr>
          <p:cNvPr id="271" name="Google Shape;271;p32"/>
          <p:cNvSpPr txBox="1"/>
          <p:nvPr/>
        </p:nvSpPr>
        <p:spPr>
          <a:xfrm>
            <a:off x="2751832" y="2573684"/>
            <a:ext cx="668833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Demostración Animada</a:t>
            </a:r>
            <a:endParaRPr/>
          </a:p>
        </p:txBody>
      </p:sp>
      <p:sp>
        <p:nvSpPr>
          <p:cNvPr id="272" name="Google Shape;272;p32"/>
          <p:cNvSpPr txBox="1"/>
          <p:nvPr/>
        </p:nvSpPr>
        <p:spPr>
          <a:xfrm>
            <a:off x="2482453" y="3350865"/>
            <a:ext cx="72270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Damos paso a la animación interactiva preparada por el equipo.</a:t>
            </a:r>
            <a:endParaRPr/>
          </a:p>
        </p:txBody>
      </p:sp>
      <p:sp>
        <p:nvSpPr>
          <p:cNvPr id="273" name="Google Shape;273;p32"/>
          <p:cNvSpPr txBox="1"/>
          <p:nvPr/>
        </p:nvSpPr>
        <p:spPr>
          <a:xfrm>
            <a:off x="4486275" y="4217640"/>
            <a:ext cx="3476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Siguiente paso: Visualización práctica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8" name="Google Shape;27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762" y="4217640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3" title="WhatsApp Video 2026-10-18 at 8.18.02 PM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2275" y="133537"/>
            <a:ext cx="8787900" cy="65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4" title="AlgoritmoFloydCompleto_1080p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4400" y="112800"/>
            <a:ext cx="8843200" cy="66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"/>
          <p:cNvSpPr/>
          <p:nvPr/>
        </p:nvSpPr>
        <p:spPr>
          <a:xfrm>
            <a:off x="609600" y="5838825"/>
            <a:ext cx="10972800" cy="561900"/>
          </a:xfrm>
          <a:prstGeom prst="roundRect">
            <a:avLst>
              <a:gd fmla="val 20338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5"/>
          <p:cNvSpPr/>
          <p:nvPr/>
        </p:nvSpPr>
        <p:spPr>
          <a:xfrm>
            <a:off x="609600" y="2505075"/>
            <a:ext cx="5334000" cy="20574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5"/>
          <p:cNvSpPr/>
          <p:nvPr/>
        </p:nvSpPr>
        <p:spPr>
          <a:xfrm>
            <a:off x="6248400" y="2505075"/>
            <a:ext cx="5334000" cy="20574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5"/>
          <p:cNvSpPr/>
          <p:nvPr/>
        </p:nvSpPr>
        <p:spPr>
          <a:xfrm>
            <a:off x="2133600" y="2986087"/>
            <a:ext cx="1143000" cy="238200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5"/>
          <p:cNvSpPr/>
          <p:nvPr/>
        </p:nvSpPr>
        <p:spPr>
          <a:xfrm>
            <a:off x="7648575" y="2986087"/>
            <a:ext cx="1457400" cy="238200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5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RENDIMIENTO BIG O</a:t>
            </a:r>
            <a:endParaRPr b="1" i="0" sz="1050" u="none" strike="noStrike">
              <a:solidFill>
                <a:srgbClr val="0056B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35"/>
          <p:cNvSpPr txBox="1"/>
          <p:nvPr/>
        </p:nvSpPr>
        <p:spPr>
          <a:xfrm>
            <a:off x="609600" y="695325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1A2B4C"/>
                </a:solidFill>
                <a:latin typeface="Roboto"/>
                <a:ea typeface="Roboto"/>
                <a:cs typeface="Roboto"/>
                <a:sym typeface="Roboto"/>
              </a:rPr>
              <a:t>Análisis de Complejidad Computacional</a:t>
            </a:r>
            <a:endParaRPr b="1" i="0" sz="2400" u="none" strike="noStrike">
              <a:solidFill>
                <a:srgbClr val="1A2B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35"/>
          <p:cNvSpPr txBox="1"/>
          <p:nvPr/>
        </p:nvSpPr>
        <p:spPr>
          <a:xfrm>
            <a:off x="923925" y="3505200"/>
            <a:ext cx="617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9" u="none" strike="noStrike">
                <a:solidFill>
                  <a:srgbClr val="1A2B4C"/>
                </a:solidFill>
                <a:latin typeface="Roboto"/>
                <a:ea typeface="Roboto"/>
                <a:cs typeface="Roboto"/>
                <a:sym typeface="Roboto"/>
              </a:rPr>
              <a:t>Pasos Proporcionales</a:t>
            </a:r>
            <a:endParaRPr b="1" i="0" sz="1249" u="none" strike="noStrike">
              <a:solidFill>
                <a:srgbClr val="1A2B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35"/>
          <p:cNvSpPr txBox="1"/>
          <p:nvPr/>
        </p:nvSpPr>
        <p:spPr>
          <a:xfrm>
            <a:off x="923925" y="3781425"/>
            <a:ext cx="4800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En el peor de los casos, la liebre da como máximo </a:t>
            </a:r>
            <a:r>
              <a:rPr b="1" i="0" lang="en-US" sz="1125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2N pasos</a:t>
            </a:r>
            <a:r>
              <a:rPr b="0" i="0" lang="en-US" sz="1125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 antes de alcanzar a la tortuga. La fase 2 requiere máximo </a:t>
            </a:r>
            <a:r>
              <a:rPr b="1" i="0" lang="en-US" sz="1125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N pasos</a:t>
            </a:r>
            <a:r>
              <a:rPr b="0" i="0" lang="en-US" sz="1125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 adicionales.</a:t>
            </a:r>
            <a:endParaRPr b="0" i="0" sz="1125" u="none" strike="noStrike">
              <a:solidFill>
                <a:srgbClr val="49505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35"/>
          <p:cNvSpPr txBox="1"/>
          <p:nvPr/>
        </p:nvSpPr>
        <p:spPr>
          <a:xfrm>
            <a:off x="6562725" y="3505200"/>
            <a:ext cx="5629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9" u="none" strike="noStrike">
                <a:solidFill>
                  <a:srgbClr val="1A2B4C"/>
                </a:solidFill>
                <a:latin typeface="Roboto"/>
                <a:ea typeface="Roboto"/>
                <a:cs typeface="Roboto"/>
                <a:sym typeface="Roboto"/>
              </a:rPr>
              <a:t>Memoria Mínima</a:t>
            </a:r>
            <a:endParaRPr b="1" i="0" sz="1249" u="none" strike="noStrike">
              <a:solidFill>
                <a:srgbClr val="1A2B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35"/>
          <p:cNvSpPr txBox="1"/>
          <p:nvPr/>
        </p:nvSpPr>
        <p:spPr>
          <a:xfrm>
            <a:off x="6562725" y="3781425"/>
            <a:ext cx="4800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Solo requiere </a:t>
            </a:r>
            <a:r>
              <a:rPr b="1" i="0" lang="en-US" sz="1120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dos variables de puntero</a:t>
            </a:r>
            <a:r>
              <a:rPr b="0" i="0" lang="en-US" sz="1120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b="1" i="0" lang="en-US" sz="1120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slow</a:t>
            </a:r>
            <a:r>
              <a:rPr b="0" i="0" lang="en-US" sz="1120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b="1" i="0" lang="en-US" sz="1120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fast</a:t>
            </a:r>
            <a:r>
              <a:rPr b="0" i="0" lang="en-US" sz="1120" u="none" strike="noStrike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rPr>
              <a:t>), evitando la necesidad de almacenar nodos visitados en un HashSet.</a:t>
            </a:r>
            <a:endParaRPr b="0" i="0" sz="1120" u="none" strike="noStrike">
              <a:solidFill>
                <a:srgbClr val="49505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35"/>
          <p:cNvSpPr txBox="1"/>
          <p:nvPr/>
        </p:nvSpPr>
        <p:spPr>
          <a:xfrm>
            <a:off x="923925" y="2857500"/>
            <a:ext cx="13431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3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O(N)</a:t>
            </a:r>
            <a:endParaRPr b="1" i="0" sz="3023" u="none" strike="noStrike">
              <a:solidFill>
                <a:srgbClr val="0056B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35"/>
          <p:cNvSpPr txBox="1"/>
          <p:nvPr/>
        </p:nvSpPr>
        <p:spPr>
          <a:xfrm>
            <a:off x="2247900" y="3024187"/>
            <a:ext cx="1009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strike="noStrike">
                <a:solidFill>
                  <a:srgbClr val="0056B3"/>
                </a:solidFill>
                <a:latin typeface="Roboto"/>
                <a:ea typeface="Roboto"/>
                <a:cs typeface="Roboto"/>
                <a:sym typeface="Roboto"/>
              </a:rPr>
              <a:t>Tiempo Lineal</a:t>
            </a:r>
            <a:endParaRPr b="1" i="0" sz="1050" u="none" strike="noStrike">
              <a:solidFill>
                <a:srgbClr val="0056B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35"/>
          <p:cNvSpPr txBox="1"/>
          <p:nvPr/>
        </p:nvSpPr>
        <p:spPr>
          <a:xfrm>
            <a:off x="6562725" y="2857500"/>
            <a:ext cx="12192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3" u="none" strike="noStrike">
                <a:solidFill>
                  <a:srgbClr val="1A2B4C"/>
                </a:solidFill>
                <a:latin typeface="Roboto"/>
                <a:ea typeface="Roboto"/>
                <a:cs typeface="Roboto"/>
                <a:sym typeface="Roboto"/>
              </a:rPr>
              <a:t>O(1)</a:t>
            </a:r>
            <a:endParaRPr b="1" i="0" sz="3023" u="none" strike="noStrike">
              <a:solidFill>
                <a:srgbClr val="1A2B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35"/>
          <p:cNvSpPr txBox="1"/>
          <p:nvPr/>
        </p:nvSpPr>
        <p:spPr>
          <a:xfrm>
            <a:off x="7762875" y="3024187"/>
            <a:ext cx="1323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strike="noStrike">
                <a:solidFill>
                  <a:srgbClr val="15803D"/>
                </a:solidFill>
                <a:latin typeface="Roboto"/>
                <a:ea typeface="Roboto"/>
                <a:cs typeface="Roboto"/>
                <a:sym typeface="Roboto"/>
              </a:rPr>
              <a:t>Espacio Constante</a:t>
            </a:r>
            <a:endParaRPr b="1" i="0" sz="1050" u="none" strike="noStrike">
              <a:solidFill>
                <a:srgbClr val="1580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35"/>
          <p:cNvSpPr txBox="1"/>
          <p:nvPr/>
        </p:nvSpPr>
        <p:spPr>
          <a:xfrm>
            <a:off x="838200" y="6033250"/>
            <a:ext cx="11227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Vs. Enfoque I</a:t>
            </a: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genuo con HashMap/HashSet: Mantiene el mismo tiempo O(N) pero reduce el uso de memoria de O(N) a O(1).</a:t>
            </a:r>
            <a:endParaRPr/>
          </a:p>
        </p:txBody>
      </p:sp>
      <p:pic>
        <p:nvPicPr>
          <p:cNvPr descr="image.png" id="305" name="Google Shape;30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048375"/>
            <a:ext cx="1809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6"/>
          <p:cNvSpPr/>
          <p:nvPr/>
        </p:nvSpPr>
        <p:spPr>
          <a:xfrm>
            <a:off x="609600" y="2843212"/>
            <a:ext cx="3505200" cy="2171700"/>
          </a:xfrm>
          <a:prstGeom prst="roundRect">
            <a:avLst>
              <a:gd fmla="val 70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6"/>
          <p:cNvSpPr/>
          <p:nvPr/>
        </p:nvSpPr>
        <p:spPr>
          <a:xfrm>
            <a:off x="4343400" y="2943225"/>
            <a:ext cx="3505200" cy="1971675"/>
          </a:xfrm>
          <a:prstGeom prst="roundRect">
            <a:avLst>
              <a:gd fmla="val 77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6"/>
          <p:cNvSpPr/>
          <p:nvPr/>
        </p:nvSpPr>
        <p:spPr>
          <a:xfrm>
            <a:off x="8077200" y="2943225"/>
            <a:ext cx="3505200" cy="1971675"/>
          </a:xfrm>
          <a:prstGeom prst="roundRect">
            <a:avLst>
              <a:gd fmla="val 77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3" name="Google Shape;31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1575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32575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32575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7262" y="329088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14875" y="33909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48675" y="33909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CASOS DE USO</a:t>
            </a:r>
            <a:endParaRPr/>
          </a:p>
        </p:txBody>
      </p:sp>
      <p:sp>
        <p:nvSpPr>
          <p:cNvPr id="320" name="Google Shape;320;p36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¿Para qué problema se utiliza?</a:t>
            </a:r>
            <a:endParaRPr/>
          </a:p>
        </p:txBody>
      </p:sp>
      <p:sp>
        <p:nvSpPr>
          <p:cNvPr id="321" name="Google Shape;321;p36"/>
          <p:cNvSpPr txBox="1"/>
          <p:nvPr/>
        </p:nvSpPr>
        <p:spPr>
          <a:xfrm>
            <a:off x="847725" y="3805237"/>
            <a:ext cx="397549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Listas Enlazadas</a:t>
            </a:r>
            <a:endParaRPr/>
          </a:p>
        </p:txBody>
      </p:sp>
      <p:sp>
        <p:nvSpPr>
          <p:cNvPr id="322" name="Google Shape;322;p36"/>
          <p:cNvSpPr txBox="1"/>
          <p:nvPr/>
        </p:nvSpPr>
        <p:spPr>
          <a:xfrm>
            <a:off x="847725" y="4100512"/>
            <a:ext cx="31242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Detecta punteros corruptos que apuntan hacia atrás generando bucles infinitos en memoria.</a:t>
            </a:r>
            <a:endParaRPr/>
          </a:p>
        </p:txBody>
      </p:sp>
      <p:sp>
        <p:nvSpPr>
          <p:cNvPr id="323" name="Google Shape;323;p36"/>
          <p:cNvSpPr txBox="1"/>
          <p:nvPr/>
        </p:nvSpPr>
        <p:spPr>
          <a:xfrm>
            <a:off x="4581525" y="3905250"/>
            <a:ext cx="397549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Generadores PRNG</a:t>
            </a:r>
            <a:endParaRPr/>
          </a:p>
        </p:txBody>
      </p:sp>
      <p:sp>
        <p:nvSpPr>
          <p:cNvPr id="324" name="Google Shape;324;p36"/>
          <p:cNvSpPr txBox="1"/>
          <p:nvPr/>
        </p:nvSpPr>
        <p:spPr>
          <a:xfrm>
            <a:off x="4581525" y="4200525"/>
            <a:ext cx="312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Determina la longitud del período en secuencias de números pseudoaleatorios.</a:t>
            </a:r>
            <a:endParaRPr/>
          </a:p>
        </p:txBody>
      </p:sp>
      <p:sp>
        <p:nvSpPr>
          <p:cNvPr id="325" name="Google Shape;325;p36"/>
          <p:cNvSpPr txBox="1"/>
          <p:nvPr/>
        </p:nvSpPr>
        <p:spPr>
          <a:xfrm>
            <a:off x="8315325" y="3905250"/>
            <a:ext cx="38766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Criptografía</a:t>
            </a:r>
            <a:endParaRPr/>
          </a:p>
        </p:txBody>
      </p:sp>
      <p:sp>
        <p:nvSpPr>
          <p:cNvPr id="326" name="Google Shape;326;p36"/>
          <p:cNvSpPr txBox="1"/>
          <p:nvPr/>
        </p:nvSpPr>
        <p:spPr>
          <a:xfrm>
            <a:off x="8315325" y="4200525"/>
            <a:ext cx="312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Permite encontrar colisiones en funciones de dispersión (Algoritmo Rho de Pollard).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7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7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7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4" name="Google Shape;33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9060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954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7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337" name="Google Shape;337;p37"/>
          <p:cNvSpPr txBox="1"/>
          <p:nvPr/>
        </p:nvSpPr>
        <p:spPr>
          <a:xfrm>
            <a:off x="1666875" y="1033462"/>
            <a:ext cx="417909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https://cp-algorithms.com/others/tortoise_hare_algo.png</a:t>
            </a:r>
            <a:endParaRPr/>
          </a:p>
        </p:txBody>
      </p:sp>
      <p:sp>
        <p:nvSpPr>
          <p:cNvPr id="338" name="Google Shape;338;p37"/>
          <p:cNvSpPr txBox="1"/>
          <p:nvPr/>
        </p:nvSpPr>
        <p:spPr>
          <a:xfrm>
            <a:off x="1666875" y="1233487"/>
            <a:ext cx="24526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cp-algorithms.com</a:t>
            </a:r>
            <a:endParaRPr/>
          </a:p>
        </p:txBody>
      </p:sp>
      <p:sp>
        <p:nvSpPr>
          <p:cNvPr id="339" name="Google Shape;339;p37"/>
          <p:cNvSpPr txBox="1"/>
          <p:nvPr/>
        </p:nvSpPr>
        <p:spPr>
          <a:xfrm>
            <a:off x="1666875" y="1762125"/>
            <a:ext cx="10048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https://media2.dev.to/dynamic/image/width=1000,height=500,fit=cover,gravity=auto,format=auto/https%3A%2F%2Fdev-to-uploads.s3.amazonaws.com%2Fuploads%2Farticles%2F0gf0gng4lx63sfli6t80.jpg</a:t>
            </a:r>
            <a:endParaRPr/>
          </a:p>
        </p:txBody>
      </p:sp>
      <p:sp>
        <p:nvSpPr>
          <p:cNvPr id="340" name="Google Shape;340;p37"/>
          <p:cNvSpPr txBox="1"/>
          <p:nvPr/>
        </p:nvSpPr>
        <p:spPr>
          <a:xfrm>
            <a:off x="1666875" y="2114550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dev.to</a:t>
            </a:r>
            <a:endParaRPr/>
          </a:p>
        </p:txBody>
      </p:sp>
      <p:pic>
        <p:nvPicPr>
          <p:cNvPr id="341" name="Google Shape;34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26337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7"/>
          <p:cNvSpPr/>
          <p:nvPr/>
        </p:nvSpPr>
        <p:spPr>
          <a:xfrm>
            <a:off x="571500" y="2447888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7"/>
          <p:cNvSpPr/>
          <p:nvPr/>
        </p:nvSpPr>
        <p:spPr>
          <a:xfrm>
            <a:off x="571500" y="2447888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7"/>
          <p:cNvSpPr txBox="1"/>
          <p:nvPr/>
        </p:nvSpPr>
        <p:spPr>
          <a:xfrm>
            <a:off x="1666875" y="2600288"/>
            <a:ext cx="10048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https://makeagif.com/gif/captain-america-the-winter-soldier-on-your-left-hd-9_z2br</a:t>
            </a:r>
            <a:endParaRPr/>
          </a:p>
        </p:txBody>
      </p:sp>
      <p:sp>
        <p:nvSpPr>
          <p:cNvPr id="345" name="Google Shape;345;p37"/>
          <p:cNvSpPr txBox="1"/>
          <p:nvPr/>
        </p:nvSpPr>
        <p:spPr>
          <a:xfrm>
            <a:off x="1666875" y="2952713"/>
            <a:ext cx="133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makeagif.com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